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952500" y="9245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4" name="Line"/>
          <p:cNvSpPr/>
          <p:nvPr/>
        </p:nvSpPr>
        <p:spPr>
          <a:xfrm>
            <a:off x="952500" y="5765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3" name="Line"/>
          <p:cNvSpPr/>
          <p:nvPr/>
        </p:nvSpPr>
        <p:spPr>
          <a:xfrm>
            <a:off x="952500" y="12801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" name="Line"/>
          <p:cNvSpPr/>
          <p:nvPr/>
        </p:nvSpPr>
        <p:spPr>
          <a:xfrm>
            <a:off x="952500" y="9321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5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6" name="Lorem Ipsum Dolor"/>
          <p:cNvSpPr txBox="1"/>
          <p:nvPr>
            <p:ph type="body" sz="quarter" idx="21"/>
          </p:nvPr>
        </p:nvSpPr>
        <p:spPr>
          <a:xfrm>
            <a:off x="952500" y="86106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i="1" sz="3200"/>
            </a:lvl1pPr>
          </a:lstStyle>
          <a:p>
            <a:pPr/>
            <a:r>
              <a:t>Lorem Ipsum Dolor</a:t>
            </a:r>
          </a:p>
        </p:txBody>
      </p:sp>
      <p:sp>
        <p:nvSpPr>
          <p:cNvPr id="27" name="Black and white photo of the Zeeland Bridge in the Netherlands"/>
          <p:cNvSpPr/>
          <p:nvPr>
            <p:ph type="pic" idx="22"/>
          </p:nvPr>
        </p:nvSpPr>
        <p:spPr>
          <a:xfrm>
            <a:off x="952500" y="-1460500"/>
            <a:ext cx="22479000" cy="138938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8" name="Title Text"/>
          <p:cNvSpPr txBox="1"/>
          <p:nvPr>
            <p:ph type="title"/>
          </p:nvPr>
        </p:nvSpPr>
        <p:spPr>
          <a:xfrm>
            <a:off x="952500" y="93980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sz="quarter" idx="1"/>
          </p:nvPr>
        </p:nvSpPr>
        <p:spPr>
          <a:xfrm>
            <a:off x="15532100" y="93980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re"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"/>
          <p:cNvSpPr/>
          <p:nvPr/>
        </p:nvSpPr>
        <p:spPr>
          <a:xfrm>
            <a:off x="952500" y="6858000"/>
            <a:ext cx="10643200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5" name="Line"/>
          <p:cNvSpPr/>
          <p:nvPr/>
        </p:nvSpPr>
        <p:spPr>
          <a:xfrm>
            <a:off x="952500" y="3898900"/>
            <a:ext cx="1064309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6" name="Lorem Ipsum Dolor"/>
          <p:cNvSpPr txBox="1"/>
          <p:nvPr>
            <p:ph type="body" sz="quarter" idx="21"/>
          </p:nvPr>
        </p:nvSpPr>
        <p:spPr>
          <a:xfrm>
            <a:off x="952500" y="3124200"/>
            <a:ext cx="106426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i="1" sz="3200"/>
            </a:lvl1pPr>
          </a:lstStyle>
          <a:p>
            <a:pPr/>
            <a:r>
              <a:t>Lorem Ipsum Dolor</a:t>
            </a:r>
          </a:p>
        </p:txBody>
      </p:sp>
      <p:sp>
        <p:nvSpPr>
          <p:cNvPr id="47" name="Black and white photo of the underside of a bridge going over a river and against the sky "/>
          <p:cNvSpPr/>
          <p:nvPr>
            <p:ph type="pic" idx="22"/>
          </p:nvPr>
        </p:nvSpPr>
        <p:spPr>
          <a:xfrm>
            <a:off x="12534900" y="-1651000"/>
            <a:ext cx="10799069" cy="15824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8" name="Title Text"/>
          <p:cNvSpPr txBox="1"/>
          <p:nvPr>
            <p:ph type="title"/>
          </p:nvPr>
        </p:nvSpPr>
        <p:spPr>
          <a:xfrm>
            <a:off x="952500" y="3975100"/>
            <a:ext cx="10642600" cy="2806700"/>
          </a:xfrm>
          <a:prstGeom prst="rect">
            <a:avLst/>
          </a:prstGeom>
        </p:spPr>
        <p:txBody>
          <a:bodyPr/>
          <a:lstStyle>
            <a:lvl1pPr algn="l">
              <a:defRPr sz="7800"/>
            </a:lvl1pPr>
          </a:lstStyle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952500" y="7086600"/>
            <a:ext cx="10642600" cy="56388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6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7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8" name="Black and white photo of the underside of a bridge going over a river and against the sky "/>
          <p:cNvSpPr/>
          <p:nvPr>
            <p:ph type="pic" idx="21"/>
          </p:nvPr>
        </p:nvSpPr>
        <p:spPr>
          <a:xfrm>
            <a:off x="12636500" y="-2413000"/>
            <a:ext cx="11024412" cy="161544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0" name="Body Level One…"/>
          <p:cNvSpPr txBox="1"/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9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1" name="Body Level One…"/>
          <p:cNvSpPr txBox="1"/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0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Body Level One…"/>
          <p:cNvSpPr txBox="1"/>
          <p:nvPr>
            <p:ph type="body" idx="1"/>
          </p:nvPr>
        </p:nvSpPr>
        <p:spPr>
          <a:xfrm>
            <a:off x="952500" y="1778000"/>
            <a:ext cx="22479000" cy="101473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lack and white photo looking up at the suspension cables of a bridge with clouds in the background"/>
          <p:cNvSpPr/>
          <p:nvPr>
            <p:ph type="pic" sz="half" idx="21"/>
          </p:nvPr>
        </p:nvSpPr>
        <p:spPr>
          <a:xfrm>
            <a:off x="12232231" y="6024722"/>
            <a:ext cx="11497993" cy="8088517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9" name="Black and white photo of the Zeeland Bridge in the Netherlands"/>
          <p:cNvSpPr/>
          <p:nvPr>
            <p:ph type="pic" sz="half" idx="22"/>
          </p:nvPr>
        </p:nvSpPr>
        <p:spPr>
          <a:xfrm>
            <a:off x="12349986" y="635000"/>
            <a:ext cx="11226801" cy="6807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0" name="Black and white photo of the underside of a bridge going over a river and against the sky "/>
          <p:cNvSpPr/>
          <p:nvPr>
            <p:ph type="pic" idx="23"/>
          </p:nvPr>
        </p:nvSpPr>
        <p:spPr>
          <a:xfrm>
            <a:off x="730989" y="-2438400"/>
            <a:ext cx="11050413" cy="161925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–Johnny Appleseed"/>
          <p:cNvSpPr txBox="1"/>
          <p:nvPr>
            <p:ph type="body" sz="quarter" idx="21"/>
          </p:nvPr>
        </p:nvSpPr>
        <p:spPr>
          <a:xfrm>
            <a:off x="990600" y="8420100"/>
            <a:ext cx="22390100" cy="812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700"/>
              </a:spcBef>
              <a:buClrTx/>
              <a:buSzTx/>
              <a:buFontTx/>
              <a:buNone/>
              <a:defRPr i="1" sz="4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29" name="“Type a quote here.”"/>
          <p:cNvSpPr txBox="1"/>
          <p:nvPr>
            <p:ph type="body" sz="quarter" idx="22"/>
          </p:nvPr>
        </p:nvSpPr>
        <p:spPr>
          <a:xfrm>
            <a:off x="2374900" y="6000750"/>
            <a:ext cx="19621500" cy="939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Black and white photo looking up at the suspension cables of a bridge with clouds in the background"/>
          <p:cNvSpPr/>
          <p:nvPr>
            <p:ph type="pic" idx="21"/>
          </p:nvPr>
        </p:nvSpPr>
        <p:spPr>
          <a:xfrm>
            <a:off x="0" y="-2654300"/>
            <a:ext cx="24384000" cy="17153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952500" y="30607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952500" y="1143000"/>
            <a:ext cx="22479000" cy="166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976100" y="13017500"/>
            <a:ext cx="419100" cy="508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4C4946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1219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828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2438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30480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3657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4267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4876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5486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9045" t="0" r="0" b="3219"/>
          <a:stretch>
            <a:fillRect/>
          </a:stretch>
        </p:blipFill>
        <p:spPr>
          <a:xfrm>
            <a:off x="-78343" y="653400"/>
            <a:ext cx="18428341" cy="13072535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Bridging healthcare accessibility through technology and collaboration"/>
          <p:cNvSpPr txBox="1"/>
          <p:nvPr/>
        </p:nvSpPr>
        <p:spPr>
          <a:xfrm>
            <a:off x="6245371" y="11954961"/>
            <a:ext cx="20261056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35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Bridging healthcare accessibility through technology and collaboration</a:t>
            </a:r>
          </a:p>
        </p:txBody>
      </p:sp>
      <p:sp>
        <p:nvSpPr>
          <p:cNvPr id="156" name="Aayuphile"/>
          <p:cNvSpPr txBox="1"/>
          <p:nvPr/>
        </p:nvSpPr>
        <p:spPr>
          <a:xfrm>
            <a:off x="15823248" y="954741"/>
            <a:ext cx="8496840" cy="320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14100"/>
            </a:lvl1pPr>
          </a:lstStyle>
          <a:p>
            <a:pPr/>
            <a:r>
              <a:t>Aayuphile</a:t>
            </a:r>
          </a:p>
        </p:txBody>
      </p:sp>
      <p:sp>
        <p:nvSpPr>
          <p:cNvPr id="157" name="Inclusive Healthcare for Rural India"/>
          <p:cNvSpPr txBox="1"/>
          <p:nvPr/>
        </p:nvSpPr>
        <p:spPr>
          <a:xfrm>
            <a:off x="16893330" y="3355470"/>
            <a:ext cx="6356678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spcBef>
                <a:spcPts val="0"/>
              </a:spcBef>
              <a:defRPr sz="4400"/>
            </a:pPr>
            <a:r>
              <a:rPr sz="6000"/>
              <a:t>I</a:t>
            </a:r>
            <a:r>
              <a:rPr sz="5200"/>
              <a:t>nclusive</a:t>
            </a:r>
            <a:r>
              <a:rPr sz="5100"/>
              <a:t> Healthcare for Rural India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roblem Statement"/>
          <p:cNvSpPr txBox="1"/>
          <p:nvPr>
            <p:ph type="title"/>
          </p:nvPr>
        </p:nvSpPr>
        <p:spPr>
          <a:xfrm>
            <a:off x="960460" y="958850"/>
            <a:ext cx="22479001" cy="1663700"/>
          </a:xfrm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 defTabSz="759459">
              <a:lnSpc>
                <a:spcPct val="100000"/>
              </a:lnSpc>
              <a:spcBef>
                <a:spcPts val="0"/>
              </a:spcBef>
              <a:defRPr sz="7912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Problem Statement</a:t>
            </a:r>
            <a:endParaRPr sz="1288"/>
          </a:p>
        </p:txBody>
      </p:sp>
      <p:sp>
        <p:nvSpPr>
          <p:cNvPr id="160" name="•  65% of India’s population lives in rural areas, yet access to quality healthcare remains limited.…"/>
          <p:cNvSpPr txBox="1"/>
          <p:nvPr>
            <p:ph type="body" idx="1"/>
          </p:nvPr>
        </p:nvSpPr>
        <p:spPr>
          <a:xfrm>
            <a:off x="952500" y="3797300"/>
            <a:ext cx="20958672" cy="7784108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•	 65% of India’s population lives in rural areas, yet access to quality healthcare remains limited.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Shortage of doctors, lack of awareness, and long travel distances worsen patient outcomes.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Delays in diagnosis and treatment increase healthcare costs and mortality rates.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Key Features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163" name="•  Teleconsultation via video/audio…"/>
          <p:cNvSpPr txBox="1"/>
          <p:nvPr>
            <p:ph type="body" sz="half" idx="1"/>
          </p:nvPr>
        </p:nvSpPr>
        <p:spPr>
          <a:xfrm>
            <a:off x="976808" y="3803650"/>
            <a:ext cx="12136733" cy="892810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Teleconsultation via video/audio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E-prescriptions &amp; medical history tracking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Regional language support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AI-based symptom checker (future roadmap)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5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NGO &amp; ASHA worker partnership interface</a:t>
            </a:r>
          </a:p>
        </p:txBody>
      </p:sp>
      <p:pic>
        <p:nvPicPr>
          <p:cNvPr id="16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57908" y="4569383"/>
            <a:ext cx="11094949" cy="73966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arget Market &amp; Audience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1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Target Market &amp; Audience</a:t>
            </a:r>
          </a:p>
        </p:txBody>
      </p:sp>
      <p:sp>
        <p:nvSpPr>
          <p:cNvPr id="167" name="•  Primary Users: Rural patients, ASHA workers, local clinics.…"/>
          <p:cNvSpPr txBox="1"/>
          <p:nvPr>
            <p:ph type="body" idx="1"/>
          </p:nvPr>
        </p:nvSpPr>
        <p:spPr>
          <a:xfrm>
            <a:off x="952500" y="3797300"/>
            <a:ext cx="20487283" cy="892810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3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•	 </a:t>
            </a:r>
            <a:r>
              <a:rPr b="1"/>
              <a:t>Primary Users:</a:t>
            </a:r>
            <a:r>
              <a:t> Rural patients, ASHA workers, local clinics.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3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 </a:t>
            </a:r>
            <a:r>
              <a:rPr b="1"/>
              <a:t>Secondary Users:</a:t>
            </a:r>
            <a:r>
              <a:t> NGOs, healthcare providers, and government health programs.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43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 </a:t>
            </a:r>
            <a:r>
              <a:rPr b="1"/>
              <a:t>Market Size:</a:t>
            </a:r>
            <a:r>
              <a:t> Rural India healthcare market projected at ₹40,000 Cr+ (source: NITI Aayog).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-to-Market (GTM) Strategy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55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Go-to-Market (GTM) Strategy</a:t>
            </a:r>
            <a:endParaRPr sz="2500"/>
          </a:p>
        </p:txBody>
      </p:sp>
      <p:sp>
        <p:nvSpPr>
          <p:cNvPr id="170" name="Phase 1: Pilot in two districts with NGO collaboration…"/>
          <p:cNvSpPr txBox="1"/>
          <p:nvPr>
            <p:ph type="body" sz="half" idx="1"/>
          </p:nvPr>
        </p:nvSpPr>
        <p:spPr>
          <a:xfrm>
            <a:off x="952500" y="3695700"/>
            <a:ext cx="12330426" cy="857250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35000"/>
              </a:lnSpc>
              <a:spcBef>
                <a:spcPts val="0"/>
              </a:spcBef>
              <a:buClrTx/>
              <a:buSzTx/>
              <a:buFontTx/>
              <a:buNone/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b="1" sz="3698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  Phase 1: Pilot in two districts with NGO collaboration</a:t>
            </a:r>
          </a:p>
          <a:p>
            <a:pPr marL="141986" indent="-141986" defTabSz="914400">
              <a:lnSpc>
                <a:spcPct val="135000"/>
              </a:lnSpc>
              <a:spcBef>
                <a:spcPts val="1000"/>
              </a:spcBef>
              <a:buClrTx/>
              <a:buSzTx/>
              <a:buFontTx/>
              <a:buNone/>
              <a:tabLst>
                <a:tab pos="50800" algn="r"/>
                <a:tab pos="139700" algn="l"/>
              </a:tabLst>
              <a:defRPr sz="3698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</a:t>
            </a:r>
            <a:r>
              <a:t> </a:t>
            </a:r>
            <a:r>
              <a:rPr b="1"/>
              <a:t>Phase 2:</a:t>
            </a:r>
            <a:r>
              <a:t> </a:t>
            </a:r>
            <a:r>
              <a:rPr b="1"/>
              <a:t>Expanding to five states in India through public–private health partnerships.</a:t>
            </a:r>
            <a:endParaRPr b="1"/>
          </a:p>
          <a:p>
            <a:pPr marL="141986" indent="-141986" defTabSz="914400">
              <a:lnSpc>
                <a:spcPct val="135000"/>
              </a:lnSpc>
              <a:spcBef>
                <a:spcPts val="1000"/>
              </a:spcBef>
              <a:buClrTx/>
              <a:buSzTx/>
              <a:buFontTx/>
              <a:buNone/>
              <a:tabLst>
                <a:tab pos="50800" algn="r"/>
                <a:tab pos="139700" algn="l"/>
              </a:tabLst>
              <a:defRPr b="1" sz="3698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b="0"/>
              <a:t>	• 	</a:t>
            </a:r>
            <a:r>
              <a:t>Channel Mix:</a:t>
            </a:r>
            <a:endParaRPr b="0"/>
          </a:p>
          <a:p>
            <a:pPr marL="360426" indent="-360426" defTabSz="914400">
              <a:lnSpc>
                <a:spcPct val="135000"/>
              </a:lnSpc>
              <a:spcBef>
                <a:spcPts val="1000"/>
              </a:spcBef>
              <a:buClrTx/>
              <a:buSzTx/>
              <a:buFontTx/>
              <a:buNone/>
              <a:tabLst>
                <a:tab pos="266700" algn="r"/>
                <a:tab pos="355600" algn="l"/>
              </a:tabLst>
              <a:defRPr sz="3698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    •	Rural health camps (on-ground)</a:t>
            </a:r>
          </a:p>
          <a:p>
            <a:pPr marL="360426" indent="-360426" defTabSz="914400">
              <a:lnSpc>
                <a:spcPct val="135000"/>
              </a:lnSpc>
              <a:spcBef>
                <a:spcPts val="1000"/>
              </a:spcBef>
              <a:buClrTx/>
              <a:buSzTx/>
              <a:buFontTx/>
              <a:buNone/>
              <a:tabLst>
                <a:tab pos="266700" algn="r"/>
                <a:tab pos="355600" algn="l"/>
              </a:tabLst>
              <a:defRPr sz="3698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    •WhatsApp campaigns &amp; TV Ads</a:t>
            </a:r>
          </a:p>
          <a:p>
            <a:pPr marL="360426" indent="-360426" defTabSz="914400">
              <a:lnSpc>
                <a:spcPct val="135000"/>
              </a:lnSpc>
              <a:spcBef>
                <a:spcPts val="1000"/>
              </a:spcBef>
              <a:buClrTx/>
              <a:buSzTx/>
              <a:buFontTx/>
              <a:buNone/>
              <a:tabLst>
                <a:tab pos="266700" algn="r"/>
                <a:tab pos="355600" algn="l"/>
              </a:tabLst>
              <a:defRPr sz="3698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    •	Partnerships with NGOs, ASHA workers, and clinics</a:t>
            </a:r>
          </a:p>
          <a:p>
            <a:pPr marL="141986" indent="-141986" defTabSz="914400">
              <a:lnSpc>
                <a:spcPct val="135000"/>
              </a:lnSpc>
              <a:spcBef>
                <a:spcPts val="1000"/>
              </a:spcBef>
              <a:buClrTx/>
              <a:buSzTx/>
              <a:buFontTx/>
              <a:buNone/>
              <a:tabLst>
                <a:tab pos="50800" algn="r"/>
                <a:tab pos="139700" algn="l"/>
              </a:tabLst>
              <a:defRPr sz="3698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</a:t>
            </a:r>
            <a:r>
              <a:rPr b="1"/>
              <a:t>KPIs :</a:t>
            </a:r>
            <a:r>
              <a:t> Adoption rate, consultations per month, CAC, churn rate</a:t>
            </a:r>
          </a:p>
        </p:txBody>
      </p:sp>
      <p:sp>
        <p:nvSpPr>
          <p:cNvPr id="171" name="Arrow"/>
          <p:cNvSpPr/>
          <p:nvPr/>
        </p:nvSpPr>
        <p:spPr>
          <a:xfrm>
            <a:off x="952500" y="3695700"/>
            <a:ext cx="1552774" cy="644823"/>
          </a:xfrm>
          <a:prstGeom prst="rightArrow">
            <a:avLst>
              <a:gd name="adj1" fmla="val 32000"/>
              <a:gd name="adj2" fmla="val 126050"/>
            </a:avLst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sz="4400"/>
            </a:pPr>
          </a:p>
        </p:txBody>
      </p:sp>
      <p:sp>
        <p:nvSpPr>
          <p:cNvPr id="172" name="Arrow"/>
          <p:cNvSpPr/>
          <p:nvPr/>
        </p:nvSpPr>
        <p:spPr>
          <a:xfrm>
            <a:off x="952500" y="3695700"/>
            <a:ext cx="1552774" cy="644823"/>
          </a:xfrm>
          <a:prstGeom prst="rightArrow">
            <a:avLst>
              <a:gd name="adj1" fmla="val 32000"/>
              <a:gd name="adj2" fmla="val 126050"/>
            </a:avLst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sz="4400"/>
            </a:pPr>
          </a:p>
        </p:txBody>
      </p:sp>
      <p:pic>
        <p:nvPicPr>
          <p:cNvPr id="1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18381" y="4212743"/>
            <a:ext cx="11307621" cy="75384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venue Model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9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Revenue Model</a:t>
            </a:r>
          </a:p>
        </p:txBody>
      </p:sp>
      <p:sp>
        <p:nvSpPr>
          <p:cNvPr id="176" name="•  Freemium model: Free basic consultations; paid specialist consultations, access to all the prescriptions, smart hospital finder during emergency…"/>
          <p:cNvSpPr txBox="1"/>
          <p:nvPr>
            <p:ph type="body" idx="1"/>
          </p:nvPr>
        </p:nvSpPr>
        <p:spPr>
          <a:xfrm>
            <a:off x="699378" y="3289300"/>
            <a:ext cx="22479001" cy="8572500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 	•	 </a:t>
            </a:r>
            <a:r>
              <a:rPr b="1"/>
              <a:t>Freemium model:</a:t>
            </a:r>
            <a:r>
              <a:t> Free basic consultations; paid specialist consultations, access to all the prescriptions, smart hospital finder during emergency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 •	 </a:t>
            </a:r>
            <a:r>
              <a:rPr b="1"/>
              <a:t>Subscription plans: </a:t>
            </a:r>
            <a:r>
              <a:t>pro, ultimate plans</a:t>
            </a:r>
            <a:endParaRPr b="1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 • 	</a:t>
            </a:r>
            <a:r>
              <a:rPr b="1"/>
              <a:t>Commission model:</a:t>
            </a:r>
            <a:r>
              <a:t> Revenue sharing with verified doctors.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Workflow and Stakeholders &amp; Partnerships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50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Workflow and Stakeholders &amp; Partnerships</a:t>
            </a:r>
            <a:endParaRPr sz="1400"/>
          </a:p>
        </p:txBody>
      </p:sp>
      <p:sp>
        <p:nvSpPr>
          <p:cNvPr id="179" name="•  Start → Patient registration → Health worker verification → Doctor consultation → Prescription → Follow-up…"/>
          <p:cNvSpPr txBox="1"/>
          <p:nvPr>
            <p:ph type="body" idx="1"/>
          </p:nvPr>
        </p:nvSpPr>
        <p:spPr>
          <a:xfrm>
            <a:off x="952500" y="3702050"/>
            <a:ext cx="22479000" cy="857250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35000"/>
              </a:lnSpc>
              <a:spcBef>
                <a:spcPts val="0"/>
              </a:spcBef>
              <a:buClrTx/>
              <a:buSzTx/>
              <a:buFont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b="1" sz="432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/>
          </a:p>
          <a:p>
            <a:pPr marL="158495" indent="-158495" defTabSz="914400">
              <a:lnSpc>
                <a:spcPct val="135000"/>
              </a:lnSpc>
              <a:spcBef>
                <a:spcPts val="1100"/>
              </a:spcBef>
              <a:buClrTx/>
              <a:buSzTx/>
              <a:buFontTx/>
              <a:buNone/>
              <a:tabLst>
                <a:tab pos="50800" algn="r"/>
                <a:tab pos="152400" algn="l"/>
              </a:tabLst>
              <a:defRPr sz="432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Start → Patient registration → Health worker verification → Doctor consultation → Prescription → Follow-up</a:t>
            </a:r>
          </a:p>
          <a:p>
            <a:pPr marL="158495" indent="-158495" defTabSz="914400">
              <a:lnSpc>
                <a:spcPct val="135000"/>
              </a:lnSpc>
              <a:spcBef>
                <a:spcPts val="1100"/>
              </a:spcBef>
              <a:buClrTx/>
              <a:buSzTx/>
              <a:buFontTx/>
              <a:buNone/>
              <a:tabLst>
                <a:tab pos="50800" algn="r"/>
                <a:tab pos="152400" algn="l"/>
              </a:tabLst>
              <a:defRPr b="1" sz="432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b="0"/>
              <a:t>	•	 Visualized using BPMN 2.0 to show </a:t>
            </a:r>
            <a:r>
              <a:t>information flow, decision gateways, and feedback loops</a:t>
            </a:r>
            <a:r>
              <a:rPr b="0"/>
              <a:t>.</a:t>
            </a:r>
            <a:endParaRPr b="0"/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432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158495" indent="-158495" defTabSz="914400">
              <a:lnSpc>
                <a:spcPct val="135000"/>
              </a:lnSpc>
              <a:spcBef>
                <a:spcPts val="1100"/>
              </a:spcBef>
              <a:buClrTx/>
              <a:buSzTx/>
              <a:buFontTx/>
              <a:buNone/>
              <a:tabLst>
                <a:tab pos="50800" algn="r"/>
                <a:tab pos="152400" algn="l"/>
              </a:tabLst>
              <a:defRPr sz="432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 	</a:t>
            </a:r>
            <a:r>
              <a:rPr b="1"/>
              <a:t>Stakeholders:</a:t>
            </a:r>
            <a:r>
              <a:t> Patients, Doctors, NGOs, Government bodies, ASHA workers, Pharmacies</a:t>
            </a:r>
          </a:p>
          <a:p>
            <a:pPr marL="158495" indent="-158495" defTabSz="914400">
              <a:lnSpc>
                <a:spcPct val="135000"/>
              </a:lnSpc>
              <a:spcBef>
                <a:spcPts val="1100"/>
              </a:spcBef>
              <a:buClrTx/>
              <a:buSzTx/>
              <a:buFontTx/>
              <a:buNone/>
              <a:tabLst>
                <a:tab pos="50800" algn="r"/>
                <a:tab pos="152400" algn="l"/>
              </a:tabLst>
              <a:defRPr sz="432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</a:t>
            </a:r>
            <a:r>
              <a:rPr b="1"/>
              <a:t>Strategic Partners:</a:t>
            </a:r>
            <a:r>
              <a:t> Local healthcare NGOs, diagnostic labs, and digital payment providers.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key performance indicator’s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74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key performance indicator’s</a:t>
            </a:r>
          </a:p>
        </p:txBody>
      </p:sp>
      <p:sp>
        <p:nvSpPr>
          <p:cNvPr id="182" name="•  Adoption Rate: % of registered users actively using the app each month.…"/>
          <p:cNvSpPr txBox="1"/>
          <p:nvPr>
            <p:ph type="body" sz="half" idx="1"/>
          </p:nvPr>
        </p:nvSpPr>
        <p:spPr>
          <a:xfrm>
            <a:off x="915894" y="3289300"/>
            <a:ext cx="11190502" cy="10024981"/>
          </a:xfrm>
          <a:prstGeom prst="rect">
            <a:avLst/>
          </a:prstGeom>
        </p:spPr>
        <p:txBody>
          <a:bodyPr/>
          <a:lstStyle/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</a:t>
            </a:r>
            <a:r>
              <a:rPr b="1"/>
              <a:t>Adoption Rate:</a:t>
            </a:r>
            <a:r>
              <a:t> % of registered users actively using the app each month.</a:t>
            </a:r>
          </a:p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</a:t>
            </a:r>
            <a:r>
              <a:rPr b="1"/>
              <a:t>Retention Rate:</a:t>
            </a:r>
            <a:r>
              <a:t> Measures user loyalty over time (monthly cohort analysis).</a:t>
            </a:r>
          </a:p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 	</a:t>
            </a:r>
            <a:r>
              <a:rPr b="1"/>
              <a:t>Average Consultation Time:</a:t>
            </a:r>
            <a:r>
              <a:t> Tracks operational efficiency and user experience.</a:t>
            </a:r>
          </a:p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</a:t>
            </a:r>
            <a:r>
              <a:rPr b="1"/>
              <a:t>Satisfaction Score (NPS):</a:t>
            </a:r>
            <a:r>
              <a:t> Gauges patient and doctor feedback quality.</a:t>
            </a:r>
          </a:p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</a:t>
            </a:r>
            <a:r>
              <a:rPr b="1"/>
              <a:t>Churn Rate:</a:t>
            </a:r>
            <a:r>
              <a:t> % of users who stop using the service.</a:t>
            </a:r>
          </a:p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 	</a:t>
            </a:r>
            <a:r>
              <a:rPr b="1"/>
              <a:t>User Growth Rate:</a:t>
            </a:r>
            <a:r>
              <a:t> Monthly increase in active users per region.</a:t>
            </a:r>
          </a:p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</a:t>
            </a:r>
            <a:r>
              <a:rPr b="1"/>
              <a:t>Conversion Rate:</a:t>
            </a:r>
            <a:r>
              <a:t> % of new sign-ups that complete their first consultation.</a:t>
            </a:r>
          </a:p>
          <a:p>
            <a:pPr marL="110617" indent="-110617" defTabSz="914400">
              <a:lnSpc>
                <a:spcPct val="135000"/>
              </a:lnSpc>
              <a:spcBef>
                <a:spcPts val="800"/>
              </a:spcBef>
              <a:buClrTx/>
              <a:buSzTx/>
              <a:buFontTx/>
              <a:buNone/>
              <a:tabLst>
                <a:tab pos="38100" algn="r"/>
                <a:tab pos="101600" algn="l"/>
              </a:tabLst>
              <a:defRPr sz="3015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 </a:t>
            </a:r>
            <a:r>
              <a:rPr b="1"/>
              <a:t>Doctor Engagement Rate:</a:t>
            </a:r>
            <a:r>
              <a:t> Number of doctors actively consulting per week.</a:t>
            </a:r>
          </a:p>
        </p:txBody>
      </p:sp>
      <p:pic>
        <p:nvPicPr>
          <p:cNvPr id="18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96136" y="4238630"/>
            <a:ext cx="11689991" cy="77933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Future Roadmap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7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Future Roadmap</a:t>
            </a:r>
          </a:p>
        </p:txBody>
      </p:sp>
      <p:sp>
        <p:nvSpPr>
          <p:cNvPr id="186" name="• Short Term: Add multi-language chatbot &amp; offline suppor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3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53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</a:t>
            </a:r>
            <a:r>
              <a:rPr b="1"/>
              <a:t>Short Term:</a:t>
            </a:r>
            <a:r>
              <a:t> Add multi-language chatbot &amp; offline support.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53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</a:t>
            </a:r>
            <a:r>
              <a:rPr b="1"/>
              <a:t>Medium Term:</a:t>
            </a:r>
            <a:r>
              <a:t> Partner with 100+ NGOs and expand across 10 states.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53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</a:t>
            </a:r>
            <a:r>
              <a:rPr b="1"/>
              <a:t>Long Term:</a:t>
            </a:r>
            <a:r>
              <a:t> Integrate insurance and AI diagnostics.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Impact Summary"/>
          <p:cNvSpPr txBox="1"/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78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Impact Summary</a:t>
            </a:r>
          </a:p>
        </p:txBody>
      </p:sp>
      <p:sp>
        <p:nvSpPr>
          <p:cNvPr id="189" name="• 10,000+ rural patients served in first year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5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10,000+ rural patients served in first year.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5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3x faster access to doctors.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5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40% cost reduction in primary care delivery.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ClrTx/>
              <a:buSzTx/>
              <a:buFontTx/>
              <a:buNone/>
              <a:tabLst>
                <a:tab pos="63500" algn="r"/>
                <a:tab pos="165100" algn="l"/>
              </a:tabLst>
              <a:defRPr sz="5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Empowering ASHA workers with digital tools</a:t>
            </a:r>
          </a:p>
        </p:txBody>
      </p:sp>
      <p:pic>
        <p:nvPicPr>
          <p:cNvPr id="19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11414" y="4495999"/>
            <a:ext cx="11625323" cy="77502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– shaik muffazzalin taj"/>
          <p:cNvSpPr txBox="1"/>
          <p:nvPr>
            <p:ph type="body" idx="21"/>
          </p:nvPr>
        </p:nvSpPr>
        <p:spPr>
          <a:xfrm>
            <a:off x="990600" y="8420100"/>
            <a:ext cx="22390100" cy="889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                                                               – shaik muffazzalin taj</a:t>
            </a:r>
          </a:p>
        </p:txBody>
      </p:sp>
      <p:sp>
        <p:nvSpPr>
          <p:cNvPr id="193" name="Healing without boundaries — Aayuphile for all."/>
          <p:cNvSpPr txBox="1"/>
          <p:nvPr>
            <p:ph type="body" idx="22"/>
          </p:nvPr>
        </p:nvSpPr>
        <p:spPr>
          <a:xfrm>
            <a:off x="2374900" y="5988050"/>
            <a:ext cx="19621500" cy="965201"/>
          </a:xfrm>
          <a:prstGeom prst="rect">
            <a:avLst/>
          </a:prstGeom>
          <a:gradFill>
            <a:gsLst>
              <a:gs pos="0">
                <a:srgbClr val="89847F">
                  <a:alpha val="5000"/>
                </a:srgbClr>
              </a:gs>
              <a:gs pos="100000">
                <a:srgbClr val="89847F"/>
              </a:gs>
            </a:gsLst>
            <a:lin ang="5400000"/>
          </a:gradFill>
        </p:spPr>
        <p:txBody>
          <a:bodyPr/>
          <a:lstStyle>
            <a:lvl1pPr>
              <a:defRPr sz="5200"/>
            </a:lvl1pPr>
          </a:lstStyle>
          <a:p>
            <a:pPr/>
            <a:r>
              <a:t>Healing without boundaries — Aayuphile for all.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33948" dir="270000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33948" dir="270000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